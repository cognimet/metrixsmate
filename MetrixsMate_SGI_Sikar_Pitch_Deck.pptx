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 i="0">
                <a:solidFill>
                  <a:srgbClr val="FFFFFF"/>
                </a:solidFill>
              </a:defRPr>
            </a:pPr>
            <a:r>
              <a:t>MetrixsMate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0" i="0">
                <a:solidFill>
                  <a:srgbClr val="0D9488"/>
                </a:solidFill>
              </a:defRPr>
            </a:pPr>
            <a:r>
              <a:t>AI-Powered Psychometric Assessment &amp; Career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 b="1" i="1">
                <a:solidFill>
                  <a:srgbClr val="A0D2DB"/>
                </a:solidFill>
              </a:defRPr>
            </a:pPr>
            <a:r>
              <a:t>Assess.  Align.  Achieve.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0" i="0">
                <a:solidFill>
                  <a:srgbClr val="FFFFFF"/>
                </a:solidFill>
              </a:defRPr>
            </a:pPr>
            <a:r>
              <a:t>A Tailored Proposal for Shekhawati Group of Institutions, Sikar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FF9999"/>
                </a:solidFill>
              </a:defRPr>
            </a:pPr>
            <a: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About Shekhawati Group of Institutions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A Legacy of Multi-Disciplinary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</a:defRPr>
            </a:pPr>
            <a:r>
              <a:t>Established 2002 — Over 20 years of academic excellence in Sikar, Rajasthan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Multi-faculty campus: Engineering, Management, Law, Pharmacy, Agriculture, Science, Arts &amp; Education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Accreditations: AICTE, NCTE, PCI, BCI — Affiliated with leading Rajasthan universities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Strong placement ecosystem: TCS, Infosys, Wipro, Accenture, HCL &amp; 50+ recruiters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Thousands of students across multiple departments and programs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55448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691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FACULTIES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0D9488"/>
                </a:solidFill>
              </a:defRPr>
            </a:pPr>
            <a:r>
              <a:t>8+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0" y="155448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691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1E3A5F"/>
                </a:solidFill>
              </a:defRPr>
            </a:pPr>
            <a:r>
              <a:t>20+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83464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RECRUITERS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2461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16A34A"/>
                </a:solidFill>
              </a:defRPr>
            </a:pPr>
            <a:r>
              <a:t>50+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83464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PROGRAMS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2461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D97706"/>
                </a:solidFill>
              </a:defRPr>
            </a:pPr>
            <a:r>
              <a:t>15+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Current Challenges Facing Institutions Like 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What's holding great institutions back?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035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Manual Student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Faculty &amp; admin spend 40%+ time on paperwork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035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73152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Fragmented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Admissions, exams, placements use disconnected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53035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73152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No Scientific Career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29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Students choose courses based on peer pressure, not aptitude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926080"/>
            <a:ext cx="53035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73152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Placement Cell Blind Spots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429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No data to match student strengths to recruiter needs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53035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89120"/>
            <a:ext cx="73152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26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Performance Analytics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Decisions made on intuition, not intelligence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389120"/>
            <a:ext cx="53035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389120"/>
            <a:ext cx="73152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526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Multi-Department 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8+ faculties = 8 different workflows, zero unified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The Core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E3A5F"/>
                </a:solidFill>
              </a:defRPr>
            </a:pPr>
            <a:r>
              <a:t>"Large multi-course institutions invest crores in infrastructure but lack a single intelligent platform to assess student potential, guide career paths, and optimize placement outcomes."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1. No Scientific Student Profiling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Which Engineering student is suited for TCS vs. a startup? Which MBA student thrives in marketing vs. finance? No data exists.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2. Placement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Recruiters get generic resumes. Students get generic prep. Result: missed placements and wasted potential.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9496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3. Zero Predictive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7150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No system to identify at-risk students, high-performers, or hidden talent early in the academic cycle.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Introducing MetrixsMate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One Platform. Three Assessments. Unlimited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0">
                <a:solidFill>
                  <a:srgbClr val="333333"/>
                </a:solidFill>
              </a:defRPr>
            </a:pPr>
            <a:r>
              <a:t>MetrixsMate is an AI-powered psychometric assessment &amp; career intelligence platform that scientifically profiles every student across three dimensions: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474720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OCEAN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FFFFFF"/>
                </a:solidFill>
              </a:defRPr>
            </a:pPr>
            <a:r>
              <a:t>Big Five Personality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E0E0E0"/>
                </a:solidFill>
              </a:defRPr>
            </a:pPr>
            <a:r>
              <a:t>"Who they are"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286000"/>
            <a:ext cx="347472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RIASEC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FFFFFF"/>
                </a:solidFill>
              </a:defRPr>
            </a:pPr>
            <a:r>
              <a:t>Career Interest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E0E0E0"/>
                </a:solidFill>
              </a:defRPr>
            </a:pPr>
            <a:r>
              <a:t>"What they should do"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2286000"/>
            <a:ext cx="3474720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8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Cognitive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FFFFFF"/>
                </a:solidFill>
              </a:defRPr>
            </a:pPr>
            <a:r>
              <a:t>Aptitude &amp;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8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E0E0E0"/>
                </a:solidFill>
              </a:defRPr>
            </a:pPr>
            <a:r>
              <a:t>"How they think"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480560"/>
            <a:ext cx="4846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D9488"/>
                </a:solidFill>
              </a:defRPr>
            </a:pPr>
            <a:r>
              <a:t>AI Engine  →  Career Paths  |  Placement Match  |  Student Profiles  |  PDF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What MetrixsMate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OCEAN Personality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Scientifically validated Big Five personality profiling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727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RIASEC Career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Holland-code based career interest inventory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Cognitive Aptitude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08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IQ, reasoning &amp; problem-solving evaluation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6517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65176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AI School / Career Finder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108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Intelligent matching of results to career paths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50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Detailed PDF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Downloadable profiles for placement cells &amp; parents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84048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950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Admin Analytics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97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Institution-wide insights, trends &amp; comparisons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292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02920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389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Certificate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Verified digital certificates for assessments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0292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502920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51389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Multi-Department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One platform for all faculties — unified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MetrixsMate × SGI Sikar — A Perfect Fit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7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95527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SGI Faculty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MetrixsMate Application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Identify Tech vs. Research vs. Management aptitudes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Management (MBA)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Map Marketing vs. Finance vs. HR personality fits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Assess analytical reasoning &amp; communication strengths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Pharmacy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Evaluate detail-orientation &amp; scientific aptitude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Career path mapping: agri-business vs.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Education (B.Ed)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Teacher personality profiling for school placements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Science &amp; 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Early career guidance before specialization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D9488"/>
                </a:solidFill>
              </a:defRPr>
            </a:pPr>
            <a:r>
              <a:t>Multi-Campus Scale: One dashboard, all departments, unified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Who Benefits? Everyone.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FFFFFF"/>
                </a:solidFill>
              </a:defRPr>
            </a:pPr>
            <a:r>
              <a:t>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Unified student intelligence across all departments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Automated report generation (no manual Excel)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Data-backed academic planning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FFFFFF"/>
                </a:solidFill>
              </a:defRPr>
            </a:pPr>
            <a:r>
              <a:t>Faculty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Understand student learning styles via OCEAN data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Identify at-risk students early via cognitive scores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Personalized mentoring based on scientific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30352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959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FFFFFF"/>
                </a:solidFill>
              </a:defRPr>
            </a:pPr>
            <a: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Self-awareness through personality &amp; aptitude results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AI-recommended career paths aligned to strengths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Verified certificates to add to resumes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53035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9959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FFFFFF"/>
                </a:solidFill>
              </a:defRPr>
            </a:pPr>
            <a:r>
              <a:t>Placement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Talent pool sorted by recruiter requirements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Share student profiles, not just resumes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Data to prove student-recruiter 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Save Time. Reduce Errors. Scale Effortlessly.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75488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Manual Process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With MetrixsMate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 Saved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Paper-based personality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Online OCEAN assessment (auto-scored)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Excel-based student tracking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Real-time admin dashboard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Manual report preparation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One-click PDF report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Individual career counselling (1:1)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AI-powered batch recommendations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Placement data compilation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Filterable talent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0" y="4937760"/>
            <a:ext cx="66751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502920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FFFFFF"/>
                </a:solidFill>
              </a:defRPr>
            </a:pPr>
            <a:r>
              <a:t>For 1,000 students, MetrixsMate saves an estimated 2,000+ staff-hours per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Intelligence That Drives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Institution-Level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Department-wise personality distribution analysis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Cognitive score trends across batches &amp; years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Career interest heat maps by faculty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46304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474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5270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Placement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057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Auto-generated talent profiles matching recruiter JDs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Identify top 10% candidates per skill dimension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Track which personality types get placed fastest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146304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598" y="1463040"/>
            <a:ext cx="347472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8" y="15270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Student-Level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2057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Individual strength/weakness radar charts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Career fit scores ranked by compatibility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Progress tracking across assessment completions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How MetrixsMate Positions SGI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✓  NAAC &amp; Ranking 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Data-driven student outcomes = stronger accreditation narratives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✓  Recruiter Magnet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Share scientific talent profiles, not just CGPAs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✓  Parent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"We don't just teach — we scientifically guide careers"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92608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✓  Student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29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Right course + right career path = fewer dropouts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26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✓  Digital-First Reputation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Position SGI as Rajasthan's most tech-forward institution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38912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38912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526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✓  Marketing 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"First institution in Sikar with AI-powered psychometric assessments"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Case Study: Regional Engineering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Institution of similar scale — hypothetical, based on projected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 i="0">
                <a:solidFill>
                  <a:srgbClr val="D97706"/>
                </a:solidFill>
              </a:defRPr>
            </a:pPr>
            <a:r>
              <a:t>CHALLENGE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1,200 students across 5 branches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Placement rate stuck at 45%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No career guidance system in 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02920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 i="0">
                <a:solidFill>
                  <a:srgbClr val="3B82F6"/>
                </a:solidFill>
              </a:defRPr>
            </a:pPr>
            <a:r>
              <a:t>METRIXSMATE DEPLOYED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All students completed 3 assessments in Week 1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AI generated personalized career maps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Placement cell received filterable talent dashboards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06070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FFFFFF"/>
                </a:solidFill>
              </a:defRPr>
            </a:pPr>
            <a:r>
              <a:t>RESULTS AFTER 1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Placement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1E3A5F"/>
                </a:solidFill>
              </a:defRPr>
            </a:pPr>
            <a:r>
              <a:t>45% → 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66666"/>
                </a:solidFill>
              </a:defRPr>
            </a:pPr>
            <a:r>
              <a:t>+23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393192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Recruiter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343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1E3A5F"/>
                </a:solidFill>
              </a:defRPr>
            </a:pPr>
            <a:r>
              <a:t>4.1 → 4.7 / 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66666"/>
                </a:solidFill>
              </a:defRPr>
            </a:pPr>
            <a:r>
              <a:t>+15%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Career Clarity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1E3A5F"/>
                </a:solidFill>
              </a:defRPr>
            </a:pPr>
            <a:r>
              <a:t>3.2 → 4.5 / 5.0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66666"/>
                </a:solidFill>
              </a:defRPr>
            </a:pPr>
            <a:r>
              <a:t>+41%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393192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Admin Time Saved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343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1E3A5F"/>
                </a:solidFill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66666"/>
                </a:solidFill>
              </a:defRPr>
            </a:pPr>
            <a:r>
              <a:t>80%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ROI &amp; Cost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The numbers that matter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01168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 Student/Year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Includes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₹199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OCEAN + RIASEC assessments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Professional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₹499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3 assessments + AI Career Finder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₹799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Everything + Admin Dashboard + Reports +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309360" y="1463040"/>
            <a:ext cx="502920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1,000 Students — Enterprise Plan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 i="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</a:defRPr>
            </a:pPr>
            <a:r>
              <a:t>Annual Platform Cost:  ₹7,99,000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Manual Equivalent (counsellors, staff, tools):  ₹18,00,000+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16A34A"/>
                </a:solidFill>
              </a:defRPr>
            </a:pPr>
            <a:r>
              <a:t>Net Savings:  ₹10,00,000+ / year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 i="0">
                <a:solidFill>
                  <a:srgbClr val="333333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0D9488"/>
                </a:solidFill>
              </a:defRPr>
            </a:pPr>
            <a:r>
              <a:t>ROI: 2.25x in 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Go Live in 4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Setup &amp;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Platform setup, SGI branding,</a:t>
            </a:r>
            <a:br/>
            <a:r>
              <a:t>department mapping, admin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25603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7099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Pilot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788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100 students from 2 departments</a:t>
            </a:r>
            <a:br/>
            <a:r>
              <a:t>take all 3 assessments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25603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099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Feedback &amp;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88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Analyze pilot results, refine</a:t>
            </a:r>
            <a:br/>
            <a:r>
              <a:t>recommendations, train placement cell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6459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645920"/>
            <a:ext cx="25603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7099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Full Rollout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88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All departments live, bulk student</a:t>
            </a:r>
            <a:br/>
            <a:r>
              <a:t>onboarding, staff dashboards 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697480"/>
            <a:ext cx="27432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697480"/>
            <a:ext cx="27432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2697480"/>
            <a:ext cx="27432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Ongoing Support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Dedicated account manager  •  Monthly analytics review calls  •  Platform updates &amp; new features included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Enterprise-Grade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Data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08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All data encrypted at rest and in transit (AES-256 / TLS 1.3)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Role-Based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Admin, faculty, student roles with granular permissions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GDPR-Aligned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Data privacy best practices, student consent workflows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20440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UGC/AICTE Friendly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66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Assessment frameworks aligned with Indian education standards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99.9% Uptime SLA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251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Cloud-hosted on reliable, scalable 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92040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Regular Backups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937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Automated daily backups with disaster recovery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77840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No Third-Party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623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Student data belongs to SGI — period.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What Sets Us Apart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MetrixsMate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Generic LMS with no assessments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 scientifically validated assessments built-in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Manual career counselling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AI-powered career &amp; school recommendations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One-size-fits-all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Multi-department, multi-faculty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English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Hindi + English support (key for Rajasthan)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PDF-only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Interactive dashboards + downloadable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Per-module pricing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All-in-one transparent pricing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Complex 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Live in 4 weeks, not 4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See It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 i="0">
                <a:solidFill>
                  <a:srgbClr val="1E3A5F"/>
                </a:solidFill>
              </a:defRPr>
            </a:pPr>
            <a:r>
              <a:t>Proposed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4688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30-minute walkthrough customized for SGI's departments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2860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286000"/>
            <a:ext cx="2560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4688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Pilot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Free 2-week pilot with 100 students — no commitment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06640" y="24688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Results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Present pilot insights to SGI leadership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2860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286000"/>
            <a:ext cx="25603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0" y="246888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Decision &amp;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Full deployment with dedicated onboarding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754880"/>
            <a:ext cx="66751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84632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 i="0">
                <a:solidFill>
                  <a:srgbClr val="FFFFFF"/>
                </a:solidFill>
              </a:defRPr>
            </a:pPr>
            <a:r>
              <a:t>Schedule Your Demo Today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A0D2DB"/>
                </a:solidFill>
              </a:defRPr>
            </a:pPr>
            <a:r>
              <a:t>Contact us to get started with a free pilot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 i="0">
                <a:solidFill>
                  <a:srgbClr val="FFFFFF"/>
                </a:solidFill>
              </a:defRPr>
            </a:pPr>
            <a:r>
              <a:t>Let's Build the Future of</a:t>
            </a:r>
            <a:br/>
            <a:r>
              <a:t>Student Success —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0" i="1">
                <a:solidFill>
                  <a:srgbClr val="A0D2DB"/>
                </a:solidFill>
              </a:defRPr>
            </a:pPr>
            <a:r>
              <a:t>"SGI has built 20+ years of academic excellence.</a:t>
            </a:r>
            <a:br/>
            <a:r>
              <a:t>MetrixsMate adds the intelligence layer to turn that excellence</a:t>
            </a:r>
            <a:br/>
            <a:r>
              <a:t>into measurable, recruiter-ready outcomes."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MetrixsMate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 i="1">
                <a:solidFill>
                  <a:srgbClr val="0D9488"/>
                </a:solidFill>
              </a:defRPr>
            </a:pPr>
            <a:r>
              <a:t>Assess.  Align.  Achieve.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 i="1">
                <a:solidFill>
                  <a:srgbClr val="999999"/>
                </a:solidFill>
              </a:defRPr>
            </a:pPr>
            <a:r>
              <a:t>CONFIDENTIAL — Prepared exclusively for Shekhawati Group of Institutions, Sikar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