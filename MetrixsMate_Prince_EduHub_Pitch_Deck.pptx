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 i="0">
                <a:solidFill>
                  <a:srgbClr val="FFFFFF"/>
                </a:solidFill>
              </a:defRPr>
            </a:pPr>
            <a:r>
              <a:t>MetrixsMate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0" i="0">
                <a:solidFill>
                  <a:srgbClr val="0D9488"/>
                </a:solidFill>
              </a:defRPr>
            </a:pPr>
            <a:r>
              <a:t>AI-Powered Psychometric Assessment &amp; Career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000" b="1" i="1">
                <a:solidFill>
                  <a:srgbClr val="A0D2DB"/>
                </a:solidFill>
              </a:defRPr>
            </a:pPr>
            <a:r>
              <a:t>Assess.  Align.  Achieve.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FFFFFF"/>
                </a:solidFill>
              </a:defRPr>
            </a:pPr>
            <a:r>
              <a:t>A Tailored Proposal for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2400" b="1" i="0">
                <a:solidFill>
                  <a:srgbClr val="FFFFFF"/>
                </a:solidFill>
              </a:defRPr>
            </a:pPr>
            <a:r>
              <a:t>Prince Education Hub, Sikar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FF9999"/>
                </a:solidFill>
              </a:defRPr>
            </a:pPr>
            <a: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About Prince Education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India’s Fastest-Growing Educational Conglomerate — Sikar, Rajasthan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</a:defRPr>
            </a:pPr>
            <a:r>
              <a:t>13 lush green campuses across 250+ acres in Sikar &amp; Jaipur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All India Rank 1 by Ministry of HRD, Government of India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Awards: Best CBSE School, Best Residential Campus, Centre of Excellence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Management: Dr. Piyush Sunda (Chairman) &amp; Mr. Jogendra Sunda (Director)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25+ years of academic legacy transforming education in Rajasthan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Students consistently excel in IIT-JEE, NEET, NDA, UPSC, CLAT, CUET, CA, CBSE &amp; RBSE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Mobile apps: Prince Eduhub, PCP Sikar, Floreto — already tech-forward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554480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CAMPUSES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0D9488"/>
                </a:solidFill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0" y="1554480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0412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ACRES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E3A5F"/>
                </a:solidFill>
              </a:defRPr>
            </a:pPr>
            <a:r>
              <a:t>250+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743200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6A34A"/>
                </a:solidFill>
              </a:defRPr>
            </a:pPr>
            <a:r>
              <a:t>25+ Yrs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2743200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INSTITUTIONS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D97706"/>
                </a:solidFill>
              </a:defRPr>
            </a:pPr>
            <a:r>
              <a:t>9+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The Prince Edu Hub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9+ institutions under one conglomerate — each needing unified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325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PCP — Prince Career Pioneer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IIT-JEE | NEET | Olympiad Coaching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3B82F6"/>
                </a:solidFill>
              </a:defRPr>
            </a:pPr>
            <a:r>
              <a:t>pcpsikar.com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Prince Academy CBSE School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K-12 CBSE Residential School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16A34A"/>
                </a:solidFill>
              </a:defRPr>
            </a:pPr>
            <a:r>
              <a:t>princecbse.com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37160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73152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Prince Sainik School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Military-Style Residential School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1E3A5F"/>
                </a:solidFill>
              </a:defRPr>
            </a:pPr>
            <a:r>
              <a:t>princesainikschool.com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73152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Floreto World School (ICSE)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ICSE International Curriculum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49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8B5CF6"/>
                </a:solidFill>
              </a:defRPr>
            </a:pPr>
            <a:r>
              <a:t>floretoworldschool.com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292608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2926080"/>
            <a:ext cx="73152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Prince RBSE School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Rajasthan Board K-12 School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3749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D97706"/>
                </a:solidFill>
              </a:defRPr>
            </a:pPr>
            <a:r>
              <a:t>princeschoolsikar.com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8" y="292608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8" y="2926080"/>
            <a:ext cx="73152" cy="1325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198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Prince NDA Academy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NDA &amp; Defence Entrance Prep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8" y="3749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64748B"/>
                </a:solidFill>
              </a:defRPr>
            </a:pPr>
            <a:r>
              <a:t>princendaacademy.com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8056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480560"/>
            <a:ext cx="73152" cy="132588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Prince Defence Academy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Army, Navy, Air Force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0E7A90"/>
                </a:solidFill>
              </a:defRPr>
            </a:pPr>
            <a:r>
              <a:t>princedefence.com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48056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480560"/>
            <a:ext cx="73152" cy="1325880"/>
          </a:xfrm>
          <a:prstGeom prst="rect">
            <a:avLst/>
          </a:prstGeom>
          <a:solidFill>
            <a:srgbClr val="BE5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59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Prince College (B.Ed.)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Co-Ed PG College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59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BE5A1E"/>
                </a:solidFill>
              </a:defRPr>
            </a:pPr>
            <a:r>
              <a:t>princecollegesikar.com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598" y="4480560"/>
            <a:ext cx="3474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598" y="4480560"/>
            <a:ext cx="73152" cy="1325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198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 i="0">
                <a:solidFill>
                  <a:srgbClr val="1E3A5F"/>
                </a:solidFill>
              </a:defRPr>
            </a:pPr>
            <a:r>
              <a:t>Pre-Foundation Programme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198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Classes 7-10 Competitive Prep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198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E11D48"/>
                </a:solidFill>
              </a:defRPr>
            </a:pPr>
            <a:r>
              <a:t>princeeduhub.com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Prince Edu Hub — Achievements That Speak Volumes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Students ≥ 99%tile — JEE Main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854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04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Govt. MBBS Selections — NEET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449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409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81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IIT-JEE Selections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221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AIR-1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858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NEET UG 2024 (First from Sikar)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2628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262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94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800+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36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Govt. MBBS Selections — NEET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76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300+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413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IIT-JEE Advanced Selections 2024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4173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41732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4904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97706"/>
                </a:solidFill>
              </a:defRPr>
            </a:pPr>
            <a:r>
              <a:t>ALL INDIA TOPPER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527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Khushi Shekhawat — 12th CBSE 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19456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19456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267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97706"/>
                </a:solidFill>
              </a:defRPr>
            </a:pPr>
            <a:r>
              <a:t>6 Students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042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≥ 99% (All India Top 10 CBSE)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97180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97180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044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97706"/>
                </a:solidFill>
              </a:defRPr>
            </a:pPr>
            <a:r>
              <a:t>563 Students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0815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≥ 90% in CBSE 2025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74904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74904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822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97706"/>
                </a:solidFill>
              </a:defRPr>
            </a:pPr>
            <a:r>
              <a:t>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8587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State Merits in 10th &amp; 12th RBSE 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52628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452628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5994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97706"/>
                </a:solidFill>
              </a:defRPr>
            </a:pPr>
            <a:r>
              <a:t>527 + 455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6360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Above 90% in RBSE 12th + 10th 2025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53035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530352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53766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97706"/>
                </a:solidFill>
              </a:defRPr>
            </a:pPr>
            <a:r>
              <a:t>597 Medals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4132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333333"/>
                </a:solidFill>
              </a:defRPr>
            </a:pPr>
            <a:r>
              <a:t>National Science Olympiad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The Conglomerate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When excellence at scale meets operational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9+ Institutions, Zero Unified Student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Each institution tracks students differently — no single view of talent across the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72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No Scientific Career Guidance 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Thousands of students choose JEE vs. NEET vs. NDA vs. CLAT based on family pressure, not aptitude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3035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27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Coaching → School → College Disconnect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PCP, CBSE School &amp; College operate in silos — student insights don't flow between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3035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1272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Placement &amp; Outcome Tracking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With 854+ NEET &amp; 409+ JEE selections, no system scientifically matches student potential to exam stream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53035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81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Manual Counselling Can’t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749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Individual counselling for 10,000+ students across 13 campuses is physically impossible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72000"/>
            <a:ext cx="53035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57200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681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Untapped Data Goldmine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0749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All India Rank 1, AIR-1 NEET, AI Topper CBSE — but no data system to replicate success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The Core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E3A5F"/>
                </a:solidFill>
              </a:defRPr>
            </a:pPr>
            <a:r>
              <a:t>"Prince Edu Hub produces AIR-1 toppers, All India CBSE toppers, and 800+ MBBS selections every year — but has no scientific system to identify which of its 10,000+ students across 9 institutions is best suited for JEE, NEET, NDA, CLAT, or any other career path BEFORE they commit."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9067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1. Stream Selection Gamble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0156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A Class 10 student joins PCP for NEET but is cognitively wired for engineering. 2 years wasted. No aptitude data prevented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1605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3367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2. Cross-Institution Blindness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4456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The CBSE school doesn’t know which students should transition to PCP coaching. The Defence Academy can’t identify high-aptitude NDA candidates from RBSE school.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7667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3. Success Pattern Mystery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87568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854 NEET &amp; 409 JEE selections in 2025 — but what personality traits, aptitudes, and interests do these toppers share? Without data, you can’t systematically replicate triumph.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Introducing MetrixsMate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One Platform. Three Assessments. Unlimited Insight. All 9 Institutions Unified.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333333"/>
                </a:solidFill>
              </a:defRPr>
            </a:pPr>
            <a:r>
              <a:t>MetrixsMate is an AI-powered psychometric assessment &amp; career intelligence platform that scientifically profiles every student across three scientific dimensions: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47472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OCEAN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</a:defRPr>
            </a:pPr>
            <a:r>
              <a:t>Big Five Personality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E0E0E0"/>
                </a:solidFill>
              </a:defRPr>
            </a:pPr>
            <a:r>
              <a:t>“Who they are”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94560"/>
            <a:ext cx="3474720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RIASEC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</a:defRPr>
            </a:pPr>
            <a:r>
              <a:t>Career Interest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E0E0E0"/>
                </a:solidFill>
              </a:defRPr>
            </a:pPr>
            <a:r>
              <a:t>“What they should do”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2194560"/>
            <a:ext cx="3474720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8" y="2331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Cognitive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</a:defRPr>
            </a:pPr>
            <a:r>
              <a:t>Aptitude &amp;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3246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E0E0E0"/>
                </a:solidFill>
              </a:defRPr>
            </a:pPr>
            <a:r>
              <a:t>“How they think”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389120"/>
            <a:ext cx="4846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5720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D9488"/>
                </a:solidFill>
              </a:defRPr>
            </a:pPr>
            <a:r>
              <a:t>AI Engine  →  Career Path  |  Stream Recommendation  |  Topper DNA Mapping  |  PDF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What MetrixsMate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OCEAN Personality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Scientifically validated Big Five personality profiling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RIASEC Career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019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Holland-code based career interest inventory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Cognitive Aptitude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IQ, reasoning &amp; problem-solving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517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65176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AI Stream Recommender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906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JEE vs NEET vs NDA vs CLAT — AI suggests the right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Cross-Institution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79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One admin view for all 9 institutions &amp; 13 campuses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Detailed PDF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79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Downloadable profiles for counsellors, parents &amp; students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Hindi + English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4681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Critical for Rajasthan — assessments in both languages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0292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502920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Topper DNA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4681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Identify personality patterns of your top performers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MetrixsMate × Prince Edu Hub — Institution-by-Institution Fit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754880"/>
                <a:gridCol w="3749039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Institution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MetrixsMate Application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Benefit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PCP (JEE/NEET)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Predict JEE vs NEET aptitude before enrollment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Higher selection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CBSE School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Career guidance from Class 7 onwards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Stream selection in Class 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Sainik School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Identify leadership &amp; discipline traits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NDA aptitude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Floreto ICSE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Personality-based learning paths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Holistic student profiling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RBSE School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Aptitude mapping for state board 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Board + competitive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NDA Academy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Cognitive + personality fit for defence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Targeted NDA preparation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Defence Academy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Mental aptitude &amp; reasoning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Service branch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B.Ed. College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Teacher personality profiling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Teaching aptitude evaluation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Pre-Foundation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Early talent identification (Class 7-10)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Right stream from 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The Game-Changer: Scientific Stream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Solve the #1 decision every student &amp; parent agonizes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3840480"/>
          </a:xfrm>
          <a:prstGeom prst="rect">
            <a:avLst/>
          </a:prstGeom>
          <a:solidFill>
            <a:srgbClr val="FFF7E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DC2626"/>
                </a:solidFill>
              </a:defRPr>
            </a:pPr>
            <a:r>
              <a:t>❌  WITHOUT METRIXSMATE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Student joins PCP for NEET because “parent said so”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After 1 year, fails to cope — switches to JEE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2 years &amp; ₹2-5 lakhs wasted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Student’s confidence destroyed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Prince’s selection numbers don’t grow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Parent blames the institution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029200" cy="384048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6A34A"/>
                </a:solidFill>
              </a:defRPr>
            </a:pPr>
            <a:r>
              <a:t>✅  WITH METRIXSMATE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Student takes 3 assessments in 45 minutes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AI recommends: “High Investigative + Strong Reasoning = JEE fit”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Counsellor shows data-backed report to parent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Student joins the RIGHT stream from Day 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Selection probability jumps dramatically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Parent trusts Prince’s guidance. Refers others.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5577840"/>
            <a:ext cx="667512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562356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Move from gut-feel counselling to AI-powered career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Who Benefits? Every Stakeholder.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Management / Directors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Unified talent intelligence across 9 institutions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Data-driven enrollment &amp; stream allocation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Scientifically replicable success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270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Faculty &amp; Counsellors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Understand each student’s personality &amp; aptitude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Identify at-risk students before results suffer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Replace guesswork with AI-backed guidance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959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Students (10,000+)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Scientific self-awareness: personality + career fit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AI-recommended career paths aligned to strengths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Verified digital certificates for portfolios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035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9959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 i="0">
                <a:solidFill>
                  <a:srgbClr val="FFFFFF"/>
                </a:solidFill>
              </a:defRPr>
            </a:pPr>
            <a:r>
              <a:t>Parents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Data-backed confidence in stream selection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“Prince doesn’t guess — they scientifically guide”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•  PDF reports they can see and 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Save Time. Reduce Errors. Scale Across 13 Campuses.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292608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Process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 MetrixsMate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Paper career aptitude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 OCEAN+RIASEC+Cognitive (auto-scored)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95% time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1:1 career counselling per 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 batch recommendations for 10,000+ students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70% reduction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Excel tracking per institution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Unified cross-institution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 view, 9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parent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One-click PDF report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90% effort saved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Guesswork stream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Data-backed AI stream matcher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Higher selection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Separate systems per campus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Single platform, 13 campuses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 fragmentation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0" y="5029200"/>
            <a:ext cx="66751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512064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For 10,000+ students, MetrixsMate saves an estimated 15,000+ staff-hours/year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Topper DNA Analytics — Replicate Your Own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Turn 854 NEET &amp; 409 JEE selections into a repeatable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Discover Topper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Profile your top 100 NEET selections on OCEAN traits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What personality type dominates AIR-1 achievers?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Map cognitive strengths of JEE Advanced qualifiers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Build a “Topper DNA Blueprint” unique to Prince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435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Predict Future Toppers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1965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Score incoming students against Topper DNA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Flag high-potential students in Week 1 of enrollment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Recommend JEE, NEET, NDA, CLAT based on match 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Identify hidden gems in RBSE &amp; CBSE schools early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3716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371600"/>
            <a:ext cx="34747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8" y="1435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Optimise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1965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Route right students to right streams = higher selections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Track which personality traits predict dropout risk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Generate insights for faculty on student learning styles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</a:defRPr>
            </a:pPr>
            <a:r>
              <a:t>•  Share talent dashboards with management 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How MetrixsMate Amplifies Prince’s Dominance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✓  Selection Ratio Booster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Right student → right stream = more selections per batch. Improve JEE 1:4 and NEET 1:5 ratios further.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✓  Enrollment Magnet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"We scientifically assess your child before enrolling" — a parent can’t resist this promise.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✓  NAAC &amp; Ranking Firepower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Data-driven student outcomes strengthen accreditation narrative for the college wing.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92608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017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✓  Brand Differentiation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83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"India’s first education conglomerate with AI-powered psychometric career guidance at scale."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80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✓  Parent Trust Multiplier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46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PDF reports with scientific data = parents become brand ambassadors. Referrals skyrocket.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38912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38912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480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✓  Cross-Institution Upsell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846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CBSE student’s data shows JEE aptitude → seamless enrollment into PCP. Data-driven internal pipeline.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Projected Impact: If Prince Deploys MetrixsMate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Based on results from similar-scale coaching &amp; school ecosystems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D97706"/>
                </a:solidFill>
              </a:defRPr>
            </a:pPr>
            <a:r>
              <a:t>CURRENT STATE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10,000+ students across 9 institutions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Stream selection: parent-driven, not data-driven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No cross-institution student intelligence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Career counselling: manual, limited reach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029200" cy="1463040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1" i="0">
                <a:solidFill>
                  <a:srgbClr val="16A34A"/>
                </a:solidFill>
              </a:defRPr>
            </a:pPr>
            <a:r>
              <a:t>WITH METRIXSMATE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Every student assessed in Week 1 of enrollment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AI recommends JEE/NEET/NDA/CLAT per student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Unified dashboard for all institutions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</a:defRPr>
            </a:pPr>
            <a:r>
              <a:t>Topper DNA applied to predict future rankers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60704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FFFFFF"/>
                </a:solidFill>
              </a:defRPr>
            </a:pPr>
            <a:r>
              <a:t>PROJECTED RESULTS (YEAR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JEE Selections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E3A5F"/>
                </a:solidFill>
              </a:defRPr>
            </a:pPr>
            <a:r>
              <a:t>409 → 520+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+27%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402336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NEET Selections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E3A5F"/>
                </a:solidFill>
              </a:defRPr>
            </a:pPr>
            <a:r>
              <a:t>854 → 1,050+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+23%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Stream Switch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E3A5F"/>
                </a:solidFill>
              </a:defRPr>
            </a:pPr>
            <a:r>
              <a:t>~15% → &lt;5%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-67%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402336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133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1" i="0">
                <a:solidFill>
                  <a:srgbClr val="666666"/>
                </a:solidFill>
              </a:defRPr>
            </a:pPr>
            <a:r>
              <a:t>Parent NPS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1E3A5F"/>
                </a:solidFill>
              </a:defRPr>
            </a:pPr>
            <a:r>
              <a:t>Unknown → 85+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0">
                <a:solidFill>
                  <a:srgbClr val="666666"/>
                </a:solidFill>
              </a:defRPr>
            </a:pPr>
            <a:r>
              <a:t>Measurable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ROI &amp; Cost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A0D2DB"/>
                </a:solidFill>
              </a:defRPr>
            </a:pPr>
            <a:r>
              <a:t>The numbers that matter for a 10,000+ student conglomerate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3035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256032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 Student/Year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Single institution pilot (CBSE or RBSE school)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₹399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Coaching + schools (PCP + schools)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conglomerate — all 9 institutions unified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463040"/>
            <a:ext cx="50292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10,000 Students — Enterprise Plan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 i="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</a:defRPr>
            </a:pPr>
            <a:r>
              <a:t>Annual Platform Cost:  ₹59,90,000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Manual Equivalent: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  • Career counsellors (10): ₹60,00,000+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  • Admin tracking tools: ₹10,00,000+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  • Wrong-stream dropouts cost: ₹50,00,000+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400" b="0" i="0">
                <a:solidFill>
                  <a:srgbClr val="333333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 b="1">
                <a:solidFill>
                  <a:srgbClr val="16A34A"/>
                </a:solidFill>
              </a:defRPr>
            </a:pPr>
            <a:r>
              <a:t>Net Savings:  ₹60,00,000+ / year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600" b="0" i="0">
                <a:solidFill>
                  <a:srgbClr val="333333"/>
                </a:solidFill>
              </a:defRPr>
            </a:pPr>
          </a:p>
          <a:p>
            <a:pPr algn="ctr">
              <a:spcBef>
                <a:spcPts val="0"/>
              </a:spcBef>
              <a:spcAft>
                <a:spcPts val="600"/>
              </a:spcAft>
              <a:defRPr sz="2200" b="1" i="0">
                <a:solidFill>
                  <a:srgbClr val="0D9488"/>
                </a:solidFill>
              </a:defRPr>
            </a:pPr>
            <a:r>
              <a:t>ROI: 2x+ in Year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3035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Volume Discount Available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Conglomerate-wide deployment of 10,000+ students qualifies for special group pricing. Ask us about multi-year agreements.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Implementation Plan — Go Live in 6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60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Setup &amp;</a:t>
            </a:r>
            <a:br/>
            <a:r>
              <a:t>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Platform setup for all 9 institutions, Prince branding, campus mapping, admin accounts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5544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554480"/>
            <a:ext cx="25603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18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Pilot</a:t>
            </a:r>
            <a:br/>
            <a: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500 students from PCP + CBSE School take all 3 assessments. Faculty training.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5603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18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Feedback &amp;</a:t>
            </a:r>
            <a:br/>
            <a:r>
              <a:t>Optimise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Analyse pilot results, refine AI stream recommendations, train counsellors on 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554480"/>
            <a:ext cx="25603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618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FFFFFF"/>
                </a:solidFill>
              </a:defRPr>
            </a:pPr>
            <a:r>
              <a:t>WEEK 5-6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Full</a:t>
            </a:r>
            <a:br/>
            <a:r>
              <a:t>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 i="0">
                <a:solidFill>
                  <a:srgbClr val="666666"/>
                </a:solidFill>
              </a:defRPr>
            </a:pPr>
            <a:r>
              <a:t>All 9 institutions live. Bulk student onboarding. Cross-institution dashboards active.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606040"/>
            <a:ext cx="2743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606040"/>
            <a:ext cx="2743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606040"/>
            <a:ext cx="2743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Ongoing Support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Dedicated account manager  •  Monthly analytics review with Directors  •  All updates included  •  Integration with Prince Eduhub app possible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Enterprise-Grade Security &amp;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Data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08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All data encrypted at rest &amp; in transit (AES-256 / TLS 1.3)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21408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Role-Based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671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Separate admin roles per institution, campus, faculty, 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79776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79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GDPR-Aligned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2549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Student data consent workflows, full data privacy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38144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Multi-Tenant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8386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9 institutions, 13 campuses — data isolation guaranteed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9651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96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UGC / AICTE Aligned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1422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Assessment frameworks aligned with Indian education standards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99.9% Uptime 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800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Cloud-hosted on reliable, scalable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13248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13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1E3A5F"/>
                </a:solidFill>
              </a:defRPr>
            </a:pPr>
            <a:r>
              <a:t>🛡  No Third-Party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4589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66666"/>
                </a:solidFill>
              </a:defRPr>
            </a:pPr>
            <a:r>
              <a:t>Prince’s student data belongs to Prince —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What Sets MetrixsMate Apart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MetrixsMate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Generic LMS / ERP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Purpose-built psychometric + AI career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career counselling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AI-powered recommendations at 10,000+ scale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Single-institution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Multi-institution conglomerate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English-only platforms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Hindi + English (critical for Rajasthan students)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topper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Topper DNA profiling to replicate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Months of implementation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Live in 6 weeks across all campuses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Generic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Institution-branded PDF reports for parents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Per-module pricing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All-in-one transparent per-student pricing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See It In Action —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30-min walkthrough customized</a:t>
            </a:r>
            <a:br/>
            <a:r>
              <a:t>for Prince Edu 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1031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103120"/>
            <a:ext cx="2560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28600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Pilot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Free 3-week pilot: 500 students</a:t>
            </a:r>
            <a:br/>
            <a:r>
              <a:t>from PCP + CBSE School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0" y="2286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Results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Present pilot insights to</a:t>
            </a:r>
            <a:br/>
            <a:r>
              <a:t>Dr. Piyush &amp; Mr. Jogendra Sunda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10312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103120"/>
            <a:ext cx="25603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0" y="228600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1E3A5F"/>
                </a:solidFill>
              </a:defRPr>
            </a:pPr>
            <a:r>
              <a:t>Full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66666"/>
                </a:solidFill>
              </a:defRPr>
            </a:pPr>
            <a:r>
              <a:t>All 9 institutions, 13 campuses</a:t>
            </a:r>
            <a:br/>
            <a:r>
              <a:t>with dedicated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754880"/>
            <a:ext cx="6675120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84632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1" i="0">
                <a:solidFill>
                  <a:srgbClr val="FFFFFF"/>
                </a:solidFill>
              </a:defRPr>
            </a:pPr>
            <a:r>
              <a:t>Schedule Your Demo Today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A0D2DB"/>
                </a:solidFill>
              </a:defRPr>
            </a:pPr>
            <a:r>
              <a:t>Let’s start with a free pilot for 500 students — zero commitment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200" b="1" i="0">
                <a:solidFill>
                  <a:srgbClr val="FFFFFF"/>
                </a:solidFill>
              </a:defRPr>
            </a:pPr>
            <a:r>
              <a:t>Prince Edu Hub Produces Champions.</a:t>
            </a:r>
            <a:br/>
            <a:r>
              <a:t>MetrixsMate Ensures Every Student</a:t>
            </a:r>
            <a:br/>
            <a:r>
              <a:t>Gets the Chance to Become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A0D2DB"/>
                </a:solidFill>
              </a:defRPr>
            </a:pPr>
            <a:r>
              <a:t>"You’ve built India’s #1 education campus. You produce AIR-1 toppers and 854 MBBS selections.</a:t>
            </a:r>
            <a:br/>
            <a:r>
              <a:t>MetrixsMate adds the intelligence layer to ensure the NEXT 10,000 students</a:t>
            </a:r>
            <a:br/>
            <a:r>
              <a:t>don’t just enroll — they enroll in their perfect path."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1" i="0">
                <a:solidFill>
                  <a:srgbClr val="FFFFFF"/>
                </a:solidFill>
              </a:defRPr>
            </a:pPr>
            <a:r>
              <a:t>MetrixsMate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 i="1">
                <a:solidFill>
                  <a:srgbClr val="0D9488"/>
                </a:solidFill>
              </a:defRPr>
            </a:pPr>
            <a:r>
              <a:t>Assess.  Align.  Achieve.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000" b="0" i="1">
                <a:solidFill>
                  <a:srgbClr val="999999"/>
                </a:solidFill>
              </a:defRPr>
            </a:pPr>
            <a:r>
              <a:t>CONFIDENTIAL — Prepared exclusively for Prince Education Hub, Sikar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